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Mini Autonomous Vehicle</a:t>
            </a:r>
            <a:br/>
            <a:r>
              <a:t>Using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CD6DD"/>
                </a:solidFill>
              </a:defRPr>
            </a:pPr>
            <a:r>
              <a:t>COSC 4358 — Project Proposal Presentation</a:t>
            </a:r>
          </a:p>
          <a:p>
            <a:pPr>
              <a:defRPr sz="1800">
                <a:solidFill>
                  <a:srgbClr val="CCD6DD"/>
                </a:solidFill>
              </a:defRPr>
            </a:pPr>
            <a:r>
              <a:t>Your Name</a:t>
            </a:r>
          </a:p>
          <a:p>
            <a:pPr>
              <a:defRPr sz="1800">
                <a:solidFill>
                  <a:srgbClr val="CCD6DD"/>
                </a:solidFill>
              </a:defRPr>
            </a:pPr>
            <a:r>
              <a:t>Presentation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33"/>
                </a:solidFill>
              </a:defRPr>
            </a:pPr>
            <a:r>
              <a:t>What Problem Are We Solving?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201168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Autonomous vehicles must continuously interpret visual input and act on it in real time</a:t>
            </a:r>
          </a:p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This project tackles a simplified version of that perception problem</a:t>
            </a:r>
          </a:p>
          <a:p>
            <a:pPr>
              <a:spcAft>
                <a:spcPts val="600"/>
              </a:spcAft>
              <a:defRPr sz="1700" i="0">
                <a:solidFill>
                  <a:srgbClr val="555F66"/>
                </a:solidFill>
              </a:defRPr>
            </a:pPr>
            <a:r>
              <a:t>–  A low-cost robotic vehicle navigating a controlled, road-like environment</a:t>
            </a:r>
          </a:p>
          <a:p>
            <a:pPr>
              <a:spcAft>
                <a:spcPts val="600"/>
              </a:spcAft>
              <a:defRPr sz="1700" i="0">
                <a:solidFill>
                  <a:srgbClr val="555F66"/>
                </a:solidFill>
              </a:defRPr>
            </a:pPr>
            <a:r>
              <a:t>–  Responding correctly to lanes, obstacles, and traffic signs</a:t>
            </a:r>
          </a:p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Recognition alone isn't enough — the vehicle must also localize objects relative to its path</a:t>
            </a:r>
          </a:p>
          <a:p>
            <a:pPr>
              <a:spcAft>
                <a:spcPts val="600"/>
              </a:spcAft>
              <a:defRPr sz="1700" i="0">
                <a:solidFill>
                  <a:srgbClr val="555F66"/>
                </a:solidFill>
              </a:defRPr>
            </a:pPr>
            <a:r>
              <a:t>–  Example: detecting a pedestrian only matters if we know whether they're in the vehicle's way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33"/>
                </a:solidFill>
              </a:defRPr>
            </a:pPr>
            <a:r>
              <a:t>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201168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Build a small autonomous vehicle: Raspberry Pi + camera + motors + motor driver + ultrasonic sensor</a:t>
            </a:r>
          </a:p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Camera is the primary sensor for perception</a:t>
            </a:r>
          </a:p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Two-part vision pipeline:</a:t>
            </a:r>
          </a:p>
          <a:p>
            <a:pPr>
              <a:spcAft>
                <a:spcPts val="600"/>
              </a:spcAft>
              <a:defRPr sz="1700" i="0">
                <a:solidFill>
                  <a:srgbClr val="555F66"/>
                </a:solidFill>
              </a:defRPr>
            </a:pPr>
            <a:r>
              <a:t>–  Classical computer vision (preprocessing + lane detection) for staying in-lane</a:t>
            </a:r>
          </a:p>
          <a:p>
            <a:pPr>
              <a:spcAft>
                <a:spcPts val="600"/>
              </a:spcAft>
              <a:defRPr sz="1700" i="0">
                <a:solidFill>
                  <a:srgbClr val="555F66"/>
                </a:solidFill>
              </a:defRPr>
            </a:pPr>
            <a:r>
              <a:t>–  Lightweight YOLO object detector for cars, pedestrians, and stop signs (class + bounding box)</a:t>
            </a:r>
          </a:p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A control system fuses lane position, object locations, and distance-sensor readings</a:t>
            </a:r>
          </a:p>
          <a:p>
            <a:pPr>
              <a:spcAft>
                <a:spcPts val="600"/>
              </a:spcAft>
              <a:defRPr sz="1700" i="0">
                <a:solidFill>
                  <a:srgbClr val="555F66"/>
                </a:solidFill>
              </a:defRPr>
            </a:pPr>
            <a:r>
              <a:t>–  Decides: move forward, slow down, stop, or turn</a:t>
            </a:r>
          </a:p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Tested on a controlled track with lanes, obstacles, and signs</a:t>
            </a:r>
          </a:p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Fallback: if hardware becomes impractical, the same perception pipeline runs in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33"/>
                </a:solidFill>
              </a:defRPr>
            </a:pPr>
            <a:r>
              <a:t>Dataset — BDD100K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201168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Publicly available large-scale driving video dataset</a:t>
            </a:r>
          </a:p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Real-world road images with annotations for object detection and road-scene understanding</a:t>
            </a:r>
          </a:p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Annotated classes include cars, pedestrians, traffic signs, and more</a:t>
            </a:r>
          </a:p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Used to train / fine-tune and evaluate the object-detection component</a:t>
            </a:r>
          </a:p>
          <a:p>
            <a:pPr>
              <a:spcAft>
                <a:spcPts val="600"/>
              </a:spcAft>
              <a:defRPr sz="1700" i="0">
                <a:solidFill>
                  <a:srgbClr val="555F66"/>
                </a:solidFill>
              </a:defRPr>
            </a:pPr>
            <a:r>
              <a:t>–  Source: vis.xyz/bdd100k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33"/>
                </a:solidFill>
              </a:defRPr>
            </a:pPr>
            <a:r>
              <a:t>Tools, Techniques &amp;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201168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Hardware: Raspberry Pi, camera module, DC motors + motor driver, HC-SR04 ultrasonic sensor</a:t>
            </a:r>
          </a:p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Classical CV: color-space thresholding, ROI masking, edge/line-based lane detection (OpenCV)</a:t>
            </a:r>
          </a:p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Object detection: lightweight YOLO (Ultralytics YOLOv8), outputting class label + bounding box</a:t>
            </a:r>
          </a:p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Model comparison: multiple model sizes/configurations to study the accuracy vs. compute trade-off on edge hardware</a:t>
            </a:r>
          </a:p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Control: rule-based state machine fusing lane offset, detections, and distance readings</a:t>
            </a:r>
          </a:p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Software stack: Python, OpenCV, PyTorch/Ultralytics, GPIO control libraries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33"/>
                </a:solidFill>
              </a:defRPr>
            </a:pPr>
            <a:r>
              <a:t>How We Measure Success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201168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Object detection — recognition AND localization, not just classification accuracy</a:t>
            </a:r>
          </a:p>
          <a:p>
            <a:pPr>
              <a:spcAft>
                <a:spcPts val="600"/>
              </a:spcAft>
              <a:defRPr sz="1700" i="0">
                <a:solidFill>
                  <a:srgbClr val="555F66"/>
                </a:solidFill>
              </a:defRPr>
            </a:pPr>
            <a:r>
              <a:t>–  Mean Average Precision, including mAP@0.50 (IoU ≥ 0.50 required for a correct detection)</a:t>
            </a:r>
          </a:p>
          <a:p>
            <a:pPr>
              <a:spcAft>
                <a:spcPts val="600"/>
              </a:spcAft>
              <a:defRPr sz="1700" i="0">
                <a:solidFill>
                  <a:srgbClr val="555F66"/>
                </a:solidFill>
              </a:defRPr>
            </a:pPr>
            <a:r>
              <a:t>–  Precision and recall reported under the same IoU criterion</a:t>
            </a:r>
          </a:p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Real-time deployment</a:t>
            </a:r>
          </a:p>
          <a:p>
            <a:pPr>
              <a:spcAft>
                <a:spcPts val="600"/>
              </a:spcAft>
              <a:defRPr sz="1700" i="0">
                <a:solidFill>
                  <a:srgbClr val="555F66"/>
                </a:solidFill>
              </a:defRPr>
            </a:pPr>
            <a:r>
              <a:t>–  Inference latency (ms/frame) and frames per second on the Pi / simulation environment</a:t>
            </a:r>
          </a:p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Full vehicle behavior</a:t>
            </a:r>
          </a:p>
          <a:p>
            <a:pPr>
              <a:spcAft>
                <a:spcPts val="600"/>
              </a:spcAft>
              <a:defRPr sz="1700" i="0">
                <a:solidFill>
                  <a:srgbClr val="555F66"/>
                </a:solidFill>
              </a:defRPr>
            </a:pPr>
            <a:r>
              <a:t>–  Navigation success rate — % of test runs completing the course without leaving the lane or missing a required stop/obstacle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33"/>
                </a:solidFill>
              </a:defRPr>
            </a:pPr>
            <a:r>
              <a:t>Technical Approach &amp;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201168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Incremental development, building up to full integration:</a:t>
            </a:r>
          </a:p>
          <a:p>
            <a:pPr>
              <a:spcAft>
                <a:spcPts val="600"/>
              </a:spcAft>
              <a:defRPr sz="1700" i="0">
                <a:solidFill>
                  <a:srgbClr val="555F66"/>
                </a:solidFill>
              </a:defRPr>
            </a:pPr>
            <a:r>
              <a:t>–  Weeks 1–3 — hardware/simulation setup, camera input, motor control</a:t>
            </a:r>
          </a:p>
          <a:p>
            <a:pPr>
              <a:spcAft>
                <a:spcPts val="600"/>
              </a:spcAft>
              <a:defRPr sz="1700" i="0">
                <a:solidFill>
                  <a:srgbClr val="555F66"/>
                </a:solidFill>
              </a:defRPr>
            </a:pPr>
            <a:r>
              <a:t>–  Weeks 4–6 — lane detection &amp; image-processing pipeline</a:t>
            </a:r>
          </a:p>
          <a:p>
            <a:pPr>
              <a:spcAft>
                <a:spcPts val="600"/>
              </a:spcAft>
              <a:defRPr sz="1700" i="0">
                <a:solidFill>
                  <a:srgbClr val="555F66"/>
                </a:solidFill>
              </a:defRPr>
            </a:pPr>
            <a:r>
              <a:t>–  Weeks 7–9 — BDD100K preparation &amp; YOLO object detection</a:t>
            </a:r>
          </a:p>
          <a:p>
            <a:pPr>
              <a:spcAft>
                <a:spcPts val="600"/>
              </a:spcAft>
              <a:defRPr sz="1700" i="0">
                <a:solidFill>
                  <a:srgbClr val="555F66"/>
                </a:solidFill>
              </a:defRPr>
            </a:pPr>
            <a:r>
              <a:t>–  Weeks 10–12 — IoU-based evaluation, model comparison, control integration</a:t>
            </a:r>
          </a:p>
          <a:p>
            <a:pPr>
              <a:spcAft>
                <a:spcPts val="600"/>
              </a:spcAft>
              <a:defRPr sz="1700" i="0">
                <a:solidFill>
                  <a:srgbClr val="555F66"/>
                </a:solidFill>
              </a:defRPr>
            </a:pPr>
            <a:r>
              <a:t>–  Weeks 13–14 — testing, optimization, final metrics</a:t>
            </a:r>
          </a:p>
          <a:p>
            <a:pPr>
              <a:spcAft>
                <a:spcPts val="600"/>
              </a:spcAft>
              <a:defRPr sz="1700" i="0">
                <a:solidFill>
                  <a:srgbClr val="555F66"/>
                </a:solidFill>
              </a:defRPr>
            </a:pPr>
            <a:r>
              <a:t>–  Week 15 — final demonstration, GitHub docs, and report</a:t>
            </a:r>
          </a:p>
          <a:p>
            <a:pPr>
              <a:spcAft>
                <a:spcPts val="1000"/>
              </a:spcAft>
              <a:defRPr sz="2000">
                <a:solidFill>
                  <a:srgbClr val="1F2A33"/>
                </a:solidFill>
              </a:defRPr>
            </a:pPr>
            <a:r>
              <a:t>•  All source code, experiments, and results maintained in a GitHub repository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CD6DD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